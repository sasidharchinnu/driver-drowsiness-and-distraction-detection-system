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72B4D"/>
                </a:solidFill>
                <a:latin typeface="Arial"/>
              </a:defRPr>
            </a:pPr>
            <a:r>
              <a:rPr sz="1500" b="0" i="0" u="none" strike="noStrike">
                <a:solidFill>
                  <a:srgbClr val="172B4D"/>
                </a:solidFill>
                <a:latin typeface="Arial"/>
              </a:rPr>
              <a:t>Validation accuracy by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007C7A"/>
            </a:solidFill>
            <a:ln w="25400" cap="flat">
              <a:solidFill>
                <a:srgbClr val="007C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C7A"/>
              </a:solidFill>
              <a:ln w="9525" cap="flat">
                <a:solidFill>
                  <a:srgbClr val="007C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90.69</c:v>
                </c:pt>
                <c:pt idx="1">
                  <c:v>97.931</c:v>
                </c:pt>
                <c:pt idx="2">
                  <c:v>95.172</c:v>
                </c:pt>
                <c:pt idx="3">
                  <c:v>99.655</c:v>
                </c:pt>
                <c:pt idx="4">
                  <c:v>99.31</c:v>
                </c:pt>
                <c:pt idx="5">
                  <c:v>98.966</c:v>
                </c:pt>
                <c:pt idx="6">
                  <c:v>99.655</c:v>
                </c:pt>
                <c:pt idx="7">
                  <c:v>99.31</c:v>
                </c:pt>
                <c:pt idx="8">
                  <c:v>97.931</c:v>
                </c:pt>
                <c:pt idx="9">
                  <c:v>95.172</c:v>
                </c:pt>
                <c:pt idx="10">
                  <c:v>98.62100000000001</c:v>
                </c:pt>
                <c:pt idx="11">
                  <c:v>99.655</c:v>
                </c:pt>
                <c:pt idx="12">
                  <c:v>99.31</c:v>
                </c:pt>
                <c:pt idx="13">
                  <c:v>99.31</c:v>
                </c:pt>
                <c:pt idx="14">
                  <c:v>99.655</c:v>
                </c:pt>
                <c:pt idx="15">
                  <c:v>99.31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D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Drowsiness Detection  •  YOLO Full-Frame Classifier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6510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Demo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457200"/>
            <a:ext cx="4846320" cy="4846320"/>
          </a:xfrm>
          <a:prstGeom prst="ellipse">
            <a:avLst/>
          </a:prstGeom>
          <a:solidFill>
            <a:srgbClr val="123A50">
              <a:alpha val="90000"/>
            </a:srgbClr>
          </a:solidFill>
          <a:ln w="12700">
            <a:solidFill>
              <a:srgbClr val="123A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1417320"/>
            <a:ext cx="2926080" cy="2926080"/>
          </a:xfrm>
          <a:prstGeom prst="ellipse">
            <a:avLst/>
          </a:prstGeom>
          <a:solidFill>
            <a:srgbClr val="0E5660">
              <a:alpha val="95000"/>
            </a:srgbClr>
          </a:solidFill>
          <a:ln w="12700">
            <a:solidFill>
              <a:srgbClr val="0E566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5156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Drowsiness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using YOLO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633472"/>
            <a:ext cx="6080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full-frame yawn / no-yawn classification from a live laptop camera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730752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5020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YOLO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58064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project presentation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47888" y="24231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321040" y="318211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F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F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YAWN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used for the submitted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complete driver images are used — no face crop is used for this live classifier.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1,448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58952" y="217627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driver frames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80360" y="1389888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2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36392" y="1636776"/>
            <a:ext cx="256032" cy="256032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59105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54680" y="2075688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723 complete frames labelled as yawn.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15000" y="1389888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2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71032" y="1636776"/>
            <a:ext cx="256032" cy="256032"/>
          </a:xfrm>
          <a:prstGeom prst="ellipse">
            <a:avLst/>
          </a:prstGeom>
          <a:solidFill>
            <a:srgbClr val="2E9C67"/>
          </a:solidFill>
          <a:ln w="12700">
            <a:solidFill>
              <a:srgbClr val="2E9C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59105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No-yawn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2075688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725 complete frames labelled as no-yawn.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49640" y="1389888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2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05672" y="1636776"/>
            <a:ext cx="256032" cy="256032"/>
          </a:xfrm>
          <a:prstGeom prst="ellipse">
            <a:avLst/>
          </a:prstGeom>
          <a:solidFill>
            <a:srgbClr val="E7A93A"/>
          </a:solidFill>
          <a:ln w="12700">
            <a:solidFill>
              <a:srgbClr val="E7A9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159105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split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2075688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1,158 training images and 290 validation images.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10652760" cy="1417320"/>
          </a:xfrm>
          <a:prstGeom prst="roundRect">
            <a:avLst>
              <a:gd name="adj" fmla="val 5161"/>
            </a:avLst>
          </a:prstGeom>
          <a:solidFill>
            <a:srgbClr val="E7F2F3"/>
          </a:solidFill>
          <a:ln w="12700">
            <a:solidFill>
              <a:srgbClr val="D6E8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977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complete image?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13632" y="3877056"/>
            <a:ext cx="6812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model receives the driver, driving position, mouth, and glasses context together. This matches the original full-frame yawn/no-yawn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makes the yawn/no-yawn decision; OpenCV only reads and displays video.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16736" y="1847088"/>
            <a:ext cx="475488" cy="475488"/>
          </a:xfrm>
          <a:prstGeom prst="ellipse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6736" y="19568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8288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662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136392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webcam delivers one video frame.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2926080"/>
            <a:ext cx="502920" cy="402336"/>
          </a:xfrm>
          <a:prstGeom prst="chevron">
            <a:avLst/>
          </a:prstGeom>
          <a:solidFill>
            <a:srgbClr val="BFD6D8"/>
          </a:solidFill>
          <a:ln w="12700">
            <a:solidFill>
              <a:srgbClr val="BFD6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14216" y="1847088"/>
            <a:ext cx="475488" cy="475488"/>
          </a:xfrm>
          <a:prstGeom prst="ellipse">
            <a:avLst/>
          </a:prstGeom>
          <a:solidFill>
            <a:srgbClr val="E7A93A"/>
          </a:solidFill>
          <a:ln w="12700">
            <a:solidFill>
              <a:srgbClr val="E7A9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14216" y="19568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423160"/>
            <a:ext cx="18288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270662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frame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02152" y="3136392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driver image is sent to YOLO.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2926080"/>
            <a:ext cx="502920" cy="402336"/>
          </a:xfrm>
          <a:prstGeom prst="chevron">
            <a:avLst/>
          </a:prstGeom>
          <a:solidFill>
            <a:srgbClr val="BFD6D8"/>
          </a:solidFill>
          <a:ln w="12700">
            <a:solidFill>
              <a:srgbClr val="BFD6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11696" y="1847088"/>
            <a:ext cx="475488" cy="47548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19568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423160"/>
            <a:ext cx="18288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270662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result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9632" y="3136392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predicts Yawn or No-yawn with confidence.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01000" y="2926080"/>
            <a:ext cx="502920" cy="402336"/>
          </a:xfrm>
          <a:prstGeom prst="chevron">
            <a:avLst/>
          </a:prstGeom>
          <a:solidFill>
            <a:srgbClr val="BFD6D8"/>
          </a:solidFill>
          <a:ln w="12700">
            <a:solidFill>
              <a:srgbClr val="BFD6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09176" y="1847088"/>
            <a:ext cx="475488" cy="475488"/>
          </a:xfrm>
          <a:prstGeom prst="ellipse">
            <a:avLst/>
          </a:prstGeom>
          <a:solidFill>
            <a:srgbClr val="2E9C67"/>
          </a:solidFill>
          <a:ln w="12700">
            <a:solidFill>
              <a:srgbClr val="2E9C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19568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2423160"/>
            <a:ext cx="18288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78824" y="270662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rule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97112" y="3136392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only after continuous yawn evidence.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63240" y="48920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avoids treating one single wrong frame as drowsiness.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Drowsiness warning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 threshold makes the real-time result more stable.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063240" cy="32918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865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state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predicts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NO-YAWN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3000" y="38221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warning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2926080"/>
            <a:ext cx="640080" cy="402336"/>
          </a:xfrm>
          <a:prstGeom prst="chevron">
            <a:avLst/>
          </a:prstGeom>
          <a:solidFill>
            <a:srgbClr val="BFD6D8"/>
          </a:solidFill>
          <a:ln w="12700">
            <a:solidFill>
              <a:srgbClr val="BFD6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1463040"/>
            <a:ext cx="3063240" cy="3291840"/>
          </a:xfrm>
          <a:prstGeom prst="roundRect">
            <a:avLst>
              <a:gd name="adj" fmla="val 2388"/>
            </a:avLst>
          </a:prstGeom>
          <a:solidFill>
            <a:srgbClr val="FFF5E5"/>
          </a:solidFill>
          <a:ln w="12700">
            <a:solidFill>
              <a:srgbClr val="F2D6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865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state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4960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predicts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YAWN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394960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evidence for 1.2 seconds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58200" y="2926080"/>
            <a:ext cx="640080" cy="402336"/>
          </a:xfrm>
          <a:prstGeom prst="chevron">
            <a:avLst/>
          </a:prstGeom>
          <a:solidFill>
            <a:srgbClr val="BFD6D8"/>
          </a:solidFill>
          <a:ln w="12700">
            <a:solidFill>
              <a:srgbClr val="BFD6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146304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DEDED"/>
          </a:solidFill>
          <a:ln w="12700">
            <a:solidFill>
              <a:srgbClr val="F6C6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1865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555480" y="252374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BREAK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555480" y="37673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yawn only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validation result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fixed validation set of 290 complete driver frames.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E7F2F3"/>
          </a:solidFill>
          <a:ln w="12700">
            <a:solidFill>
              <a:srgbClr val="D5E8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36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99.3%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validation accuracy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0" y="1335024"/>
          <a:ext cx="76352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3090672"/>
            <a:ext cx="24231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reported accuracy is a dataset validation result. Real-world performance must also be tested on new camera videos.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Sunglasses handling and honest limitation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is designed to avoid making claims that a normal camera cannot support.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1664208"/>
            <a:ext cx="256032" cy="256032"/>
          </a:xfrm>
          <a:prstGeom prst="ellipse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61848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Sunglasses in yawn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288036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full-frame classifier is trained with the sunglasses examples already present in the yawn folder. It may still recognise a visible yawn because the mouth remains visible.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2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5152" y="1664208"/>
            <a:ext cx="256032" cy="256032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1848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claim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288036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or opaque sunglasses hide the eyelids. A standard RGB webcam cannot reliably decide whether those eyes are open or closed.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2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57032" y="1664208"/>
            <a:ext cx="256032" cy="256032"/>
          </a:xfrm>
          <a:prstGeom prst="ellipse">
            <a:avLst/>
          </a:prstGeom>
          <a:solidFill>
            <a:srgbClr val="E7A93A"/>
          </a:solidFill>
          <a:ln w="12700">
            <a:solidFill>
              <a:srgbClr val="E7A9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61848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103120"/>
            <a:ext cx="288036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later version can add eye-open and eye-closed detection after full driver images are labelled with eye bounding boxes.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25780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the submitted demo is a real, full-frame YOLO yawn/no-yawn system. It is designed for a clear and honest live demonstration.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 Drowsiness Detection using YOLO</dc:title>
  <dc:subject>Full-frame YOLO yawn detection</dc:subject>
  <dc:creator>Driver Drowsiness Detection Project</dc:creator>
  <cp:lastModifiedBy>Driver Drowsiness Detection Project</cp:lastModifiedBy>
  <cp:revision>1</cp:revision>
  <dcterms:created xsi:type="dcterms:W3CDTF">2026-10-05T03:59:39Z</dcterms:created>
  <dcterms:modified xsi:type="dcterms:W3CDTF">2026-10-05T03:59:39Z</dcterms:modified>
</cp:coreProperties>
</file>